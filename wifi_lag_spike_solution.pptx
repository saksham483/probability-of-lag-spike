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Probability of a Lag Spike: Statistical Solution for Wi-Fi Latency</a:t>
            </a:r>
          </a:p>
          <a:p>
            <a:pPr>
              <a:defRPr sz="1400">
                <a:solidFill>
                  <a:srgbClr val="CBD3DB"/>
                </a:solidFill>
                <a:latin typeface="Arial"/>
              </a:defRPr>
            </a:pPr>
            <a:r>
              <a:t>Moving Beyond "Average Ping" Using Right-Skewed Probability Distributions, Goodness-of-Fit Testing, and Tail Risk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Presenter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057400"/>
            <a:ext cx="4572000" cy="1005840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2057400"/>
            <a:ext cx="73152" cy="1005840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33172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Saksham  [Applied Probability &amp; Inference]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83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Course &amp; Implementation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794760"/>
            <a:ext cx="4572000" cy="1463040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3794760"/>
            <a:ext cx="73152" cy="1463040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9776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Applied Probability &amp; Statistical Inference</a:t>
            </a:r>
          </a:p>
          <a:p>
            <a:pPr>
              <a:defRPr sz="1100">
                <a:solidFill>
                  <a:srgbClr val="555B66"/>
                </a:solidFill>
                <a:latin typeface="Arial"/>
              </a:defRPr>
            </a:pPr>
            <a:r>
              <a:t>Empirical Wi-Fi Dataset: N = 3,685 ICMP Echo Probes</a:t>
            </a:r>
            <a:br/>
            <a:r>
              <a:t>Evaluation of Right-Skewed Models &amp; Lag Spike Tail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Problem: Why "Average Latency" Lies to You on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The mean latency appears moderate, but tail volatility and severe skewness create disruptive lag spikes.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66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6636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B66"/>
                </a:solidFill>
                <a:latin typeface="Arial"/>
              </a:defRPr>
            </a:pPr>
            <a:r>
              <a:t>WHAT PEOPLE ASSUME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Symmetric Normal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Bell-Curve Assumption: </a:t>
            </a:r>
            <a:r>
              <a:rPr sz="1150">
                <a:solidFill>
                  <a:srgbClr val="555B66"/>
                </a:solidFill>
              </a:rPr>
              <a:t>Belief that latency symmetrically clusters around the 176.8 ms average.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Predicts Negative Latency: </a:t>
            </a:r>
            <a:r>
              <a:rPr sz="1150">
                <a:solidFill>
                  <a:srgbClr val="555B66"/>
                </a:solidFill>
              </a:rPr>
              <a:t>Normal model predicts a 13.1% probability of RTT &lt; 0 ms (physically absurd!).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Severe Tail Blindness: </a:t>
            </a:r>
            <a:r>
              <a:rPr sz="1150">
                <a:solidFill>
                  <a:srgbClr val="555B66"/>
                </a:solidFill>
              </a:rPr>
              <a:t>Estimates probability of catastrophic lag (&gt;800 ms) as 0.003% (virtually zero).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Misleading SLA Audits: </a:t>
            </a:r>
            <a:r>
              <a:rPr sz="1150">
                <a:solidFill>
                  <a:srgbClr val="555B66"/>
                </a:solidFill>
              </a:rPr>
              <a:t>ISPs report mean ping, masking user disconnections and frame freezes.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554480"/>
            <a:ext cx="5166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554480"/>
            <a:ext cx="516636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37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989"/>
                </a:solidFill>
                <a:latin typeface="Arial"/>
              </a:defRPr>
            </a:pPr>
            <a:r>
              <a:t>EMPIRICAL WI-FI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0574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Right-Skewed &amp; Heavy-Tailed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5176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2355B"/>
                </a:solidFill>
              </a:rPr>
              <a:t>• Strict Propagation Floor: </a:t>
            </a:r>
            <a:r>
              <a:rPr sz="1150">
                <a:solidFill>
                  <a:srgbClr val="555B66"/>
                </a:solidFill>
              </a:rPr>
              <a:t>Physical minimum latency bound at 17.9 ms (no values below this).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2355B"/>
                </a:solidFill>
              </a:rPr>
              <a:t>• Extreme Right-Skewness: </a:t>
            </a:r>
            <a:r>
              <a:rPr sz="1150">
                <a:solidFill>
                  <a:srgbClr val="555B66"/>
                </a:solidFill>
              </a:rPr>
              <a:t>Skewness = +3.560 (heavily asymmetrical long right tail).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2355B"/>
                </a:solidFill>
              </a:rPr>
              <a:t>• Leptokurtic Kurtosis: </a:t>
            </a:r>
            <a:r>
              <a:rPr sz="1150">
                <a:solidFill>
                  <a:srgbClr val="555B66"/>
                </a:solidFill>
              </a:rPr>
              <a:t>Excess Kurtosis = +26.00 (extreme outlier probability).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2355B"/>
                </a:solidFill>
              </a:rPr>
              <a:t>• Catastrophic Latency Spikes: </a:t>
            </a:r>
            <a:r>
              <a:rPr sz="1150">
                <a:solidFill>
                  <a:srgbClr val="555B66"/>
                </a:solidFill>
              </a:rPr>
              <a:t>Max observed ping = 2479.0 ms (14× higher than the 176.8 ms mean!).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2355B"/>
                </a:solidFill>
              </a:rPr>
              <a:t>• High Disruption Rate: </a:t>
            </a:r>
            <a:r>
              <a:rPr sz="1150">
                <a:solidFill>
                  <a:srgbClr val="555B66"/>
                </a:solidFill>
              </a:rPr>
              <a:t>P(X &gt; 100 ms) = 64.0% (64% of packets experience lag!).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Mean latency (176.8 ms) masks an extreme 2479 ms tail spike; right-skewed models are mathematically mandatory.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Exploratory Data Analysis: Wi-Fi Empirical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Rigorous distributional summary of N = 3,685 consecutive ICMP ping packets collected over Wi-Fi.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420624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840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3989"/>
                </a:solidFill>
              </a:defRPr>
            </a:pPr>
            <a:r>
              <a:t>Central Tendency vs Spread</a:t>
            </a:r>
          </a:p>
          <a:p>
            <a:pPr>
              <a:defRPr sz="1100">
                <a:solidFill>
                  <a:srgbClr val="555B66"/>
                </a:solidFill>
              </a:defRPr>
            </a:pPr>
            <a:r>
              <a:t>• Mean: 176.81 ms  |  Median: 142.00 ms</a:t>
            </a:r>
            <a:br/>
            <a:r>
              <a:t>• Std Dev: 157.99 ms  |  IQR: 159.10 ms</a:t>
            </a:r>
            <a:br/>
            <a:r>
              <a:t>• Minimum: 17.90 ms  |  Maximum: 2479.00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420624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3840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3989"/>
                </a:solidFill>
              </a:defRPr>
            </a:pPr>
            <a:r>
              <a:t>Percentile Spectrum</a:t>
            </a:r>
          </a:p>
          <a:p>
            <a:pPr>
              <a:defRPr sz="1100">
                <a:solidFill>
                  <a:srgbClr val="555B66"/>
                </a:solidFill>
              </a:defRPr>
            </a:pPr>
            <a:r>
              <a:t>• 50th Percentile (P50): 142.00 ms</a:t>
            </a:r>
            <a:br/>
            <a:r>
              <a:t>• 90th Percentile (P90): 340.00 ms</a:t>
            </a:r>
            <a:br/>
            <a:r>
              <a:t>• 95th Percentile (P95): 444.60 ms</a:t>
            </a:r>
            <a:br/>
            <a:r>
              <a:t>• 99th Percentile (P99): 826.76 ms (Severe Tail)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420624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3989"/>
                </a:solidFill>
              </a:defRPr>
            </a:pPr>
            <a:r>
              <a:t>Higher Moments &amp; Network Reliability</a:t>
            </a:r>
          </a:p>
          <a:p>
            <a:pPr>
              <a:defRPr sz="1100">
                <a:solidFill>
                  <a:srgbClr val="555B66"/>
                </a:solidFill>
              </a:defRPr>
            </a:pPr>
            <a:r>
              <a:t>• Skewness: +3.560 (Severe Right Asymmetry)</a:t>
            </a:r>
            <a:br/>
            <a:r>
              <a:t>• Excess Kurtosis: +26.00 (Fat Tails)</a:t>
            </a:r>
            <a:br/>
            <a:r>
              <a:t>• Packet Loss: 17.08% (759 / 4,444 packets dropped)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508760"/>
            <a:ext cx="62910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1508760"/>
            <a:ext cx="6291072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ure1_time_series_lag_sp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91640"/>
            <a:ext cx="6108192" cy="37947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Median latency (142.0 ms) is 35 ms below the mean; 1% of packets (P99) exceed 827 ms with 17.1% packet loss.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Hypothesis Testing: Statistical Rejection of Gaussian Normality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Multiple formal statistical tests decisively reject the null hypothesis of normal latency (p &lt; 1e-82).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Formal Goodness-of-Fit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Kolmogorov-Smirnov (K-S) Test:
  </a:t>
            </a:r>
            <a:r>
              <a:rPr sz="1100">
                <a:solidFill>
                  <a:srgbClr val="555B66"/>
                </a:solidFill>
              </a:rPr>
              <a:t>D = 0.1603, p = 3.53e-83
Decisive rejection of Gaussian CDF at alpha = 0.001.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D'Agostino-Pearson Omnibus Test:
  </a:t>
            </a:r>
            <a:r>
              <a:rPr sz="1100">
                <a:solidFill>
                  <a:srgbClr val="555B66"/>
                </a:solidFill>
              </a:rPr>
              <a:t>K^2 = 2967.5, p = 0.000
Simultaneously tests skewness and kurtosis components.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Excess Kurtosis Test:
  </a:t>
            </a:r>
            <a:r>
              <a:rPr sz="1100">
                <a:solidFill>
                  <a:srgbClr val="555B66"/>
                </a:solidFill>
              </a:rPr>
              <a:t>Excess kurtosis = +26.00 (Normal = 0)
Extreme leptokurtic peakedness and heavy right tail.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3989"/>
                </a:solidFill>
              </a:rPr>
              <a:t>• Conclusion:
  </a:t>
            </a:r>
            <a:r>
              <a:rPr sz="1100">
                <a:solidFill>
                  <a:srgbClr val="555B66"/>
                </a:solidFill>
              </a:rPr>
              <a:t>The empirical data is fundamentally non-Gaussian; parametric modeling requires strictly positive, skewed distributions.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508760"/>
            <a:ext cx="516636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ure4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4983480" cy="3886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Normality is rejected with p &lt; 1e-82; Q-Q diagnostics demonstrate that Gaussian models deviate catastrophically in the upper tail.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Distribution Modeling: Maximum Likelihood Estimation (MLE)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Evaluating right-skewed parametric families incorporating the physical propagation floor (gamma = 17.9 ms).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6692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66928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178308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868680"/>
                <a:gridCol w="868680"/>
                <a:gridCol w="82296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Distribution Model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Log-Lik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AIC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BIC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K-S Stat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3989"/>
                          </a:solidFill>
                          <a:latin typeface="Arial"/>
                        </a:defRPr>
                      </a:pPr>
                      <a:r>
                        <a:t>Shifted Gamma (Best)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3989"/>
                          </a:solidFill>
                          <a:latin typeface="Arial"/>
                        </a:defRPr>
                      </a:pPr>
                      <a:r>
                        <a:t>-22,292.4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3989"/>
                          </a:solidFill>
                          <a:latin typeface="Arial"/>
                        </a:defRPr>
                      </a:pPr>
                      <a:r>
                        <a:t>44,590.9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3989"/>
                          </a:solidFill>
                          <a:latin typeface="Arial"/>
                        </a:defRPr>
                      </a:pPr>
                      <a:r>
                        <a:t>44,609.5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3989"/>
                          </a:solidFill>
                          <a:latin typeface="Arial"/>
                        </a:defRPr>
                      </a:pPr>
                      <a:r>
                        <a:t>0.0404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Shifted Weibull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-22,317.1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44,640.3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44,658.9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Shifted Log-Normal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-22,317.2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44,640.3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44,659.0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Log-Normal (loc=0)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-22,322.1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44,660.6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Shifted Exponential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-22,361.8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44,727.5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44,739.9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Normal (Gaussian)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-23,883.7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47,771.4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47,783.8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4800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B66"/>
                </a:solidFill>
                <a:latin typeface="Arial"/>
              </a:defRPr>
            </a:pPr>
            <a:r>
              <a:t>Best Model Parameters: 3-Parameter Shifted Gamma</a:t>
            </a:r>
            <a:br/>
            <a:r>
              <a:t>• Shape (alpha) = 1.2927  |  Scale (beta) = 122.95 ms  |  Loc (gamma) = 17.87 ms</a:t>
            </a:r>
            <a:br/>
            <a:r>
              <a:t>• Physical interpretation: gamma represents the hardware propagation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508760"/>
            <a:ext cx="487649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508760"/>
            <a:ext cx="48764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ure2_distribution_fits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1640"/>
            <a:ext cx="4693615" cy="3794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Shifted Gamma achieves the lowest AIC (44,591) and K-S statistic (0.0404), outperforming Weibull, Log-Normal, and Normal.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Beyond the Mean: Calculating the Probability of Disruption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Evaluating lag spike disruption risk: P(X &gt; 100 ms) = 1 - F_X(100), comparing empirical reality to proposal estimates.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12064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Threshold Disruption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E3989"/>
                </a:solidFill>
              </a:rPr>
              <a:t>T = 100 ms Disruption Evaluation:
</a:t>
            </a:r>
            <a:r>
              <a:rPr sz="1000">
                <a:solidFill>
                  <a:srgbClr val="555B66"/>
                </a:solidFill>
              </a:rPr>
              <a:t>• Proposal Illustrative Placeholder: ~4.5% (Initial Wi-Fi assumption)
• Empirical Live Wi-Fi Reality: 64.04% (2,360 / 3,685 pkts)
• Shifted Gamma Fitted Model: 64.34% (Relative error &lt; 0.5%)
• Shifted Weibull Model: 63.72%  |  Log-Normal: 61.96%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3989"/>
                </a:solidFill>
              </a:rPr>
              <a:t>T = 150 ms &amp; 200 ms Thresholds:
</a:t>
            </a:r>
            <a:r>
              <a:rPr sz="1000">
                <a:solidFill>
                  <a:srgbClr val="555B66"/>
                </a:solidFill>
              </a:rPr>
              <a:t>• P(X &gt; 150 ms): Empirical = 46.89%  |  Shifted Gamma = 46.15%
• P(X &gt; 200 ms): Empirical = 32.59%  |  Shifted Gamma = 32.57%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114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Proposal Placeholder (Wi-Fi)</a:t>
            </a:r>
            <a:r>
              <a:rPr sz="950" b="1">
                <a:solidFill>
                  <a:srgbClr val="8392BD"/>
                </a:solidFill>
              </a:rPr>
              <a:t>  (4.5%)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059936"/>
            <a:ext cx="3108960" cy="164592"/>
          </a:xfrm>
          <a:prstGeom prst="roundRect">
            <a:avLst/>
          </a:prstGeom>
          <a:solidFill>
            <a:srgbClr val="DDD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059936"/>
            <a:ext cx="139903" cy="164592"/>
          </a:xfrm>
          <a:prstGeom prst="roundRect">
            <a:avLst/>
          </a:prstGeom>
          <a:solidFill>
            <a:srgbClr val="839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70832"/>
            <a:ext cx="4114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Empirical Live Capture (Wi-Fi)</a:t>
            </a:r>
            <a:r>
              <a:rPr sz="950" b="1">
                <a:solidFill>
                  <a:srgbClr val="1E3989"/>
                </a:solidFill>
              </a:rPr>
              <a:t>  (64.0%)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90288"/>
            <a:ext cx="3108960" cy="164592"/>
          </a:xfrm>
          <a:prstGeom prst="roundRect">
            <a:avLst/>
          </a:prstGeom>
          <a:solidFill>
            <a:srgbClr val="DDD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590288"/>
            <a:ext cx="1990977" cy="164592"/>
          </a:xfrm>
          <a:prstGeom prst="round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01184"/>
            <a:ext cx="4114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Shifted Gamma MLE (Wi-Fi)</a:t>
            </a:r>
            <a:r>
              <a:rPr sz="950" b="1">
                <a:solidFill>
                  <a:srgbClr val="12355B"/>
                </a:solidFill>
              </a:rPr>
              <a:t>  (64.3%)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120640"/>
            <a:ext cx="3108960" cy="164592"/>
          </a:xfrm>
          <a:prstGeom prst="roundRect">
            <a:avLst/>
          </a:prstGeom>
          <a:solidFill>
            <a:srgbClr val="DDD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5120640"/>
            <a:ext cx="2000304" cy="164592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508760"/>
            <a:ext cx="542513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508760"/>
            <a:ext cx="542513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ure5_disruption_risk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242255" cy="3794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Empirical Wi-Fi disruption at 100 ms is 64.0% (vs 4.5% proposal estimate); Shifted Gamma predicts 64.34% with remarkable precision.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Uncertainty Estimation: 95% Bootstrap Confidence 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Quantifying parameter stability via B = 5,000 non-parametric bootstrap resamples on live Wi-Fi latency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4754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475488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389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E3989"/>
                </a:solidFill>
              </a:rPr>
              <a:t>Median Latency [P50]: </a:t>
            </a:r>
            <a:r>
              <a:rPr b="1" sz="1300">
                <a:solidFill>
                  <a:srgbClr val="0F172A"/>
                </a:solidFill>
              </a:rPr>
              <a:t>142.00 ms   </a:t>
            </a:r>
            <a:r>
              <a:rPr b="1" sz="1100">
                <a:solidFill>
                  <a:srgbClr val="D97706"/>
                </a:solidFill>
              </a:rPr>
              <a:t>95% CI: [138.00 ms, 146.00 ms]
</a:t>
            </a:r>
            <a:r>
              <a:rPr sz="950">
                <a:solidFill>
                  <a:srgbClr val="555B66"/>
                </a:solidFill>
              </a:rPr>
              <a:t>Extremely tight bound (+-4 ms); represents typical packet latency.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4754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32888"/>
            <a:ext cx="475488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4389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E3989"/>
                </a:solidFill>
              </a:rPr>
              <a:t>Mean Latency: </a:t>
            </a:r>
            <a:r>
              <a:rPr b="1" sz="1300">
                <a:solidFill>
                  <a:srgbClr val="0F172A"/>
                </a:solidFill>
              </a:rPr>
              <a:t>176.81 ms   </a:t>
            </a:r>
            <a:r>
              <a:rPr b="1" sz="1100">
                <a:solidFill>
                  <a:srgbClr val="D97706"/>
                </a:solidFill>
              </a:rPr>
              <a:t>95% CI: [171.87 ms, 182.00 ms]
</a:t>
            </a:r>
            <a:r>
              <a:rPr sz="950">
                <a:solidFill>
                  <a:srgbClr val="555B66"/>
                </a:solidFill>
              </a:rPr>
              <a:t>Influenced by right-tail outliers; spans +-5.1 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57016"/>
            <a:ext cx="4754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57016"/>
            <a:ext cx="475488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4389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E3989"/>
                </a:solidFill>
              </a:rPr>
              <a:t>90th Percentile [P90]: </a:t>
            </a:r>
            <a:r>
              <a:rPr b="1" sz="1300">
                <a:solidFill>
                  <a:srgbClr val="0F172A"/>
                </a:solidFill>
              </a:rPr>
              <a:t>340.00 ms   </a:t>
            </a:r>
            <a:r>
              <a:rPr b="1" sz="1100">
                <a:solidFill>
                  <a:srgbClr val="D97706"/>
                </a:solidFill>
              </a:rPr>
              <a:t>95% CI: [325.00 ms, 357.00 ms]
</a:t>
            </a:r>
            <a:r>
              <a:rPr sz="950">
                <a:solidFill>
                  <a:srgbClr val="555B66"/>
                </a:solidFill>
              </a:rPr>
              <a:t>Substantial tail delay (+-16 ms); critical for interactive cloud gaming.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81144"/>
            <a:ext cx="4754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81144"/>
            <a:ext cx="475488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54296"/>
            <a:ext cx="4389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E3989"/>
                </a:solidFill>
              </a:rPr>
              <a:t>99th Percentile [P99 Tail]: </a:t>
            </a:r>
            <a:r>
              <a:rPr b="1" sz="1300">
                <a:solidFill>
                  <a:srgbClr val="0F172A"/>
                </a:solidFill>
              </a:rPr>
              <a:t>826.76 ms   </a:t>
            </a:r>
            <a:r>
              <a:rPr b="1" sz="1100">
                <a:solidFill>
                  <a:srgbClr val="D97706"/>
                </a:solidFill>
              </a:rPr>
              <a:t>95% CI: [680.00 ms, 928.00 ms]
</a:t>
            </a:r>
            <a:r>
              <a:rPr sz="950">
                <a:solidFill>
                  <a:srgbClr val="555B66"/>
                </a:solidFill>
              </a:rPr>
              <a:t>High tail volatility spanning [680 ms, 928 ms]; causes frame freezes.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508760"/>
            <a:ext cx="579089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1508760"/>
            <a:ext cx="57908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ure6_bootstrap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91640"/>
            <a:ext cx="5608015" cy="37947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Non-parametric bootstrap confirms median stability [138-146 ms] alongside extreme tail volatility [680-928 ms].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Temporal Dynamics, Burstiness &amp; Network Engineering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CBD3DB"/>
                </a:solidFill>
                <a:latin typeface="Arial"/>
              </a:defRPr>
            </a:pPr>
            <a:r>
              <a:t>Wi-Fi lag spikes are not independent; temporal clustering exacerbates user disruption and demands modernized SLAs.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429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2900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3989"/>
                </a:solidFill>
              </a:defRPr>
            </a:pPr>
            <a:r>
              <a:t>1 · Temporal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Lag-1 Autocorrelation:
  </a:t>
            </a:r>
            <a:r>
              <a:rPr sz="1000">
                <a:solidFill>
                  <a:srgbClr val="555B66"/>
                </a:solidFill>
              </a:rPr>
              <a:t>rho_1 = +0.270 (p &lt; 1e-15).
Consecutive packets share network queuing states.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Disruption Clustering:
  </a:t>
            </a:r>
            <a:r>
              <a:rPr sz="1000">
                <a:solidFill>
                  <a:srgbClr val="555B66"/>
                </a:solidFill>
              </a:rPr>
              <a:t>642 distinct spike bursts (&gt;100 ms).
Mean burst length = 3.7 packets.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Extreme Burst Duration:
  </a:t>
            </a:r>
            <a:r>
              <a:rPr sz="1000">
                <a:solidFill>
                  <a:srgbClr val="555B66"/>
                </a:solidFill>
              </a:rPr>
              <a:t>Maximum burst = 21 consecutive packets.
Translates to ~21 seconds of continuous degradation!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Engineering Reality:
  </a:t>
            </a:r>
            <a:r>
              <a:rPr sz="1000">
                <a:solidFill>
                  <a:srgbClr val="555B66"/>
                </a:solidFill>
              </a:rPr>
              <a:t>Spikes occur in clustered waves rather than memoryless Poisson arrivals.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429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342900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3989"/>
                </a:solidFill>
              </a:defRPr>
            </a:pPr>
            <a:r>
              <a:t>2 · Disruption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Video Conferencing (Zoom/Teams):
  </a:t>
            </a:r>
            <a:r>
              <a:rPr sz="1000">
                <a:solidFill>
                  <a:srgbClr val="555B66"/>
                </a:solidFill>
              </a:rPr>
              <a:t>100 ms+ jitter bursts exceed playout buffers, causing frozen frames and clipped audio.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Esports &amp; Cloud Gaming:
  </a:t>
            </a:r>
            <a:r>
              <a:rPr sz="1000">
                <a:solidFill>
                  <a:srgbClr val="555B66"/>
                </a:solidFill>
              </a:rPr>
              <a:t>P90 (340 ms) and P99 (827 ms) trigger server desync, input drops, and missed tick-rates.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Financial Transactions:
  </a:t>
            </a:r>
            <a:r>
              <a:rPr sz="1000">
                <a:solidFill>
                  <a:srgbClr val="555B66"/>
                </a:solidFill>
              </a:rPr>
              <a:t>Deterministic latency bounds are violated; time-sensitive executions risk slippage.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Composite Quality Score:
  </a:t>
            </a:r>
            <a:r>
              <a:rPr sz="1000">
                <a:solidFill>
                  <a:srgbClr val="555B66"/>
                </a:solidFill>
              </a:rPr>
              <a:t>17.1% packet loss + 64.0% lag spikes = only 29.8% of packets are on-time and healthy.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429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429000" cy="54864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3989"/>
                </a:solidFill>
              </a:defRPr>
            </a:pPr>
            <a:r>
              <a:t>3 · Engineering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Redefine ISP SLAs:
  </a:t>
            </a:r>
            <a:r>
              <a:rPr sz="1000">
                <a:solidFill>
                  <a:srgbClr val="555B66"/>
                </a:solidFill>
              </a:rPr>
              <a:t>Replace deceptive 'average ping' guarantees with Shifted Gamma tail percentiles (P95, P99) and P(X &gt; 100 ms).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Active Queue Management (AQM):
  </a:t>
            </a:r>
            <a:r>
              <a:rPr sz="1000">
                <a:solidFill>
                  <a:srgbClr val="555B66"/>
                </a:solidFill>
              </a:rPr>
              <a:t>Implement FQ-CoDel or Cake AQM on Wi-Fi access points to eliminate bufferbloat queuing spikes.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Adaptive Jitter Buffers:
  </a:t>
            </a:r>
            <a:r>
              <a:rPr sz="1000">
                <a:solidFill>
                  <a:srgbClr val="555B66"/>
                </a:solidFill>
              </a:rPr>
              <a:t>Real-time communication software must dynamically size jitter buffers up to ~850 ms during Wi-Fi bursts.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2355B"/>
                </a:solidFill>
              </a:rPr>
              <a:t>• Project Methodology Success:
  </a:t>
            </a:r>
            <a:r>
              <a:rPr sz="1000">
                <a:solidFill>
                  <a:srgbClr val="555B66"/>
                </a:solidFill>
              </a:rPr>
              <a:t>Empirical analysis validates the 4-step framework proposed in Applied Probability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97880"/>
            <a:ext cx="107286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897880"/>
            <a:ext cx="73152" cy="566928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007608"/>
            <a:ext cx="1045433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989"/>
                </a:solidFill>
                <a:latin typeface="Arial"/>
              </a:rPr>
              <a:t>TAKEAWAY   </a:t>
            </a:r>
            <a:r>
              <a:rPr sz="1080" b="1">
                <a:solidFill>
                  <a:srgbClr val="0F172A"/>
                </a:solidFill>
                <a:latin typeface="Arial"/>
              </a:rPr>
              <a:t>Wi-Fi latency spikes exhibit temporal autocorrelation (rho_1 = 0.27); network engineering must replace average ping with Shifted Gamma tail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3AF"/>
                </a:solidFill>
                <a:latin typeface="Arial"/>
              </a:defRPr>
            </a:pPr>
            <a:r>
              <a:t>Probability of a Lag Spike • Wi-Fi Empirical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